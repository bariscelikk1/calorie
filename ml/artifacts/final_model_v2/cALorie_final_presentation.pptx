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9c4fd60-a4ad-7028-c0fc-2715cfdd9069}">
          <p14:sldIdLst>
            <p14:sldId id="256"/>
          </p14:sldIdLst>
        </p14:section>
        <p14:section name="Method" id="{82ca21e2-424a-ea8f-87e0-797945ed6390}">
          <p14:sldIdLst>
            <p14:sldId id="257"/>
          </p14:sldIdLst>
        </p14:section>
        <p14:section name="Problem" id="{432fb182-1afd-f11a-2fa1-68654f8773f9}">
          <p14:sldIdLst>
            <p14:sldId id="258"/>
          </p14:sldIdLst>
        </p14:section>
        <p14:section name="Data" id="{f43f1ac2-0522-c8ee-63eb-f6a45a9d9988}">
          <p14:sldIdLst>
            <p14:sldId id="259"/>
          </p14:sldIdLst>
        </p14:section>
        <p14:section name="Results" id="{78716c69-d24a-cf27-c384-6c24a1fe8e59}">
          <p14:sldIdLst>
            <p14:sldId id="260"/>
            <p14:sldId id="261"/>
            <p14:sldId id="262"/>
          </p14:sldIdLst>
        </p14:section>
        <p14:section name="Method honesty" id="{377448cf-bd28-04d1-3c6e-5b6d7a70ddf0}">
          <p14:sldIdLst>
            <p14:sldId id="263"/>
          </p14:sldIdLst>
        </p14:section>
        <p14:section name="Demo" id="{ca4b6b9f-18c2-71d3-1d31-23e36857a543}">
          <p14:sldIdLst>
            <p14:sldId id="264"/>
          </p14:sldIdLst>
        </p14:section>
        <p14:section name="Wrap-up" id="{d8bee38f-ad38-a04d-acf6-7e39065854f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cALorie watches a workout video and says which exercise you are doing, minute by minute. This talk covers how it works, what we measured, and where it still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never looks at pixels. MediaPipe turns each frame into 17 body points. A gate decides if a moment is a supported exercise. A classifier names it. A smoothing step turns the flickering predictions into clean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Macro F1 averages the score over exercises so rare ones count equally. 82 percent was the old internal test of short clips. On eight full follow-along workouts, the same model scored 33 percent, and more than half of the real exercise time was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total about 34 hours of video was processed: roughly 1,800 short training clips (7.7 h), 1,040 RepCount clips (7.3 h), and 38 long workouts (18.8 h). We collected the 38 follow-along videos from creators we had not used before, screened out vlogs and montages, and labeled every second using a 23-rule annotation guide. The spot checks were 44 of 44, 95 of 95, and 71 of 71 correct. Two test sets were locked with file fingerprints before any model was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eight unseen workouts. The early model and the short-clip model scored about 32 percent. Adding eleven long videos gave 47.6 percent. Right: six brand-new workouts from new creators. Final v1 scored 38.7 percent; adding more data gave 43.5 percent, with all four pre-set criteria met. The two tests are different videos, so compare bars within a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Lateral raise went from 5 to 64 percent, curls 65 to 81, triceps 60 to 72. Dumbbell row dropped from 41 to 22, and squat from 95 to 88. We report that honestly: more data is not better for every exercise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real unseen workout from the second test. Top row is what a human labeled; bottom row is the model. The match is imperfect, which is why we also report the numbers, not just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earlier experiments missed their pass rule and were reported as failures. The first full retraining failed on the gate; the rebalanced one came close but also missed the bar by five points. We froze it anyway, labeled as not passing, and scored it once on the locked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page is a Streamlit script. Reps come from a simple peak counter tuned on dev clips and scored once on a sealed test: 68 percent within one rep, 39 percent exact. Calories use the standard formula with a fixed MET per exercise and a plus or minus 35 percent range, because we have no ground truth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summary: each round of real workout data helped, the model is still research-grade, and the next step is more varied data and a fresh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F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215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371600"/>
            <a:ext cx="7863840" cy="91440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c</a:t>
            </a:r>
            <a:pPr indent="0" marL="0">
              <a:buNone/>
            </a:pPr>
            <a:r>
              <a:rPr lang="en-US" sz="6000" b="1" dirty="0">
                <a:solidFill>
                  <a:srgbClr val="FF7A45"/>
                </a:solidFill>
                <a:latin typeface="Cambria" pitchFamily="34" charset="0"/>
                <a:ea typeface="Cambria" pitchFamily="34" charset="-122"/>
                <a:cs typeface="Cambria" pitchFamily="34" charset="-120"/>
              </a:rPr>
              <a:t>AL</a:t>
            </a:r>
            <a:pPr indent="0" marL="0">
              <a:buNone/>
            </a:pPr>
            <a:r>
              <a:rPr lang="en-US" sz="6000" b="1" dirty="0">
                <a:solidFill>
                  <a:schemeClr val="bg1"/>
                </a:solidFill>
                <a:latin typeface="Cambria" pitchFamily="34" charset="0"/>
                <a:ea typeface="Cambria" pitchFamily="34" charset="-122"/>
                <a:cs typeface="Cambria" pitchFamily="34" charset="-120"/>
              </a:rPr>
              <a:t>orie</a:t>
            </a:r>
            <a:endParaRPr lang="en-US" sz="6000" dirty="0"/>
          </a:p>
        </p:txBody>
      </p:sp>
      <p:sp>
        <p:nvSpPr>
          <p:cNvPr id="3" name="subtitle"/>
          <p:cNvSpPr txBox="1"/>
          <p:nvPr/>
        </p:nvSpPr>
        <p:spPr>
          <a:xfrm>
            <a:off x="640080" y="2377440"/>
            <a:ext cx="7315200" cy="822960"/>
          </a:xfrm>
          <a:prstGeom prst="rect">
            <a:avLst/>
          </a:prstGeom>
          <a:noFill/>
          <a:ln/>
        </p:spPr>
        <p:txBody>
          <a:bodyPr wrap="square" lIns="0" tIns="0" rIns="0" bIns="0" rtlCol="0" anchor="ctr"/>
          <a:lstStyle/>
          <a:p>
            <a:pPr indent="0" marL="0">
              <a:buNone/>
            </a:pPr>
            <a:r>
              <a:rPr lang="en-US" sz="2400" dirty="0">
                <a:solidFill>
                  <a:srgbClr val="CFD3E3"/>
                </a:solidFill>
                <a:latin typeface="Calibri" pitchFamily="34" charset="0"/>
                <a:ea typeface="Calibri" pitchFamily="34" charset="-122"/>
                <a:cs typeface="Calibri" pitchFamily="34" charset="-120"/>
              </a:rPr>
              <a:t>Teaching a computer to name your exercise from a workout video</a:t>
            </a:r>
            <a:endParaRPr lang="en-US" sz="2400" dirty="0"/>
          </a:p>
        </p:txBody>
      </p:sp>
      <p:sp>
        <p:nvSpPr>
          <p:cNvPr id="4" name="footer"/>
          <p:cNvSpPr txBox="1"/>
          <p:nvPr/>
        </p:nvSpPr>
        <p:spPr>
          <a:xfrm>
            <a:off x="640080" y="4206240"/>
            <a:ext cx="7315200" cy="36576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Pose-based exercise recognition · final project · 2026</a:t>
            </a:r>
            <a:endParaRPr lang="en-US" sz="1400" dirty="0"/>
          </a:p>
        </p:txBody>
      </p:sp>
      <p:sp>
        <p:nvSpPr>
          <p:cNvPr id="5" name="dot 0"/>
          <p:cNvSpPr/>
          <p:nvPr/>
        </p:nvSpPr>
        <p:spPr>
          <a:xfrm>
            <a:off x="6720840" y="548640"/>
            <a:ext cx="201168" cy="201168"/>
          </a:xfrm>
          <a:prstGeom prst="ellipse">
            <a:avLst/>
          </a:prstGeom>
          <a:solidFill>
            <a:srgbClr val="FF7A45"/>
          </a:solidFill>
          <a:ln/>
        </p:spPr>
      </p:sp>
      <p:sp>
        <p:nvSpPr>
          <p:cNvPr id="6" name="dot 1"/>
          <p:cNvSpPr/>
          <p:nvPr/>
        </p:nvSpPr>
        <p:spPr>
          <a:xfrm>
            <a:off x="7086600" y="548640"/>
            <a:ext cx="201168" cy="201168"/>
          </a:xfrm>
          <a:prstGeom prst="ellipse">
            <a:avLst/>
          </a:prstGeom>
          <a:solidFill>
            <a:srgbClr val="8F84F0"/>
          </a:solidFill>
          <a:ln/>
        </p:spPr>
      </p:sp>
      <p:sp>
        <p:nvSpPr>
          <p:cNvPr id="7" name="dot 2"/>
          <p:cNvSpPr/>
          <p:nvPr/>
        </p:nvSpPr>
        <p:spPr>
          <a:xfrm>
            <a:off x="7452360" y="548640"/>
            <a:ext cx="201168" cy="201168"/>
          </a:xfrm>
          <a:prstGeom prst="ellipse">
            <a:avLst/>
          </a:prstGeom>
          <a:solidFill>
            <a:srgbClr val="5B9BEB"/>
          </a:solidFill>
          <a:ln/>
        </p:spPr>
      </p:sp>
      <p:sp>
        <p:nvSpPr>
          <p:cNvPr id="8" name="dot 3"/>
          <p:cNvSpPr/>
          <p:nvPr/>
        </p:nvSpPr>
        <p:spPr>
          <a:xfrm>
            <a:off x="7818120" y="548640"/>
            <a:ext cx="201168" cy="201168"/>
          </a:xfrm>
          <a:prstGeom prst="ellipse">
            <a:avLst/>
          </a:prstGeom>
          <a:solidFill>
            <a:srgbClr val="2FCB93"/>
          </a:solidFill>
          <a:ln/>
        </p:spPr>
      </p:sp>
      <p:sp>
        <p:nvSpPr>
          <p:cNvPr id="9" name="dot 4"/>
          <p:cNvSpPr/>
          <p:nvPr/>
        </p:nvSpPr>
        <p:spPr>
          <a:xfrm>
            <a:off x="8183880" y="548640"/>
            <a:ext cx="201168" cy="201168"/>
          </a:xfrm>
          <a:prstGeom prst="ellipse">
            <a:avLst/>
          </a:prstGeom>
          <a:solidFill>
            <a:srgbClr val="F5B8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From video to an exercise timeline</a:t>
            </a:r>
            <a:endParaRPr lang="en-US" sz="3200" dirty="0"/>
          </a:p>
        </p:txBody>
      </p:sp>
      <p:sp>
        <p:nvSpPr>
          <p:cNvPr id="3" name="step card 0"/>
          <p:cNvSpPr/>
          <p:nvPr/>
        </p:nvSpPr>
        <p:spPr>
          <a:xfrm>
            <a:off x="548640" y="1600200"/>
            <a:ext cx="1371600" cy="1920240"/>
          </a:xfrm>
          <a:prstGeom prst="roundRect">
            <a:avLst>
              <a:gd name="adj" fmla="val 5333"/>
            </a:avLst>
          </a:prstGeom>
          <a:solidFill>
            <a:srgbClr val="1C2130"/>
          </a:solidFill>
          <a:ln/>
        </p:spPr>
      </p:sp>
      <p:sp>
        <p:nvSpPr>
          <p:cNvPr id="4" name="step dot 0"/>
          <p:cNvSpPr/>
          <p:nvPr/>
        </p:nvSpPr>
        <p:spPr>
          <a:xfrm>
            <a:off x="1051560" y="1783080"/>
            <a:ext cx="365760" cy="365760"/>
          </a:xfrm>
          <a:prstGeom prst="ellipse">
            <a:avLst/>
          </a:prstGeom>
          <a:solidFill>
            <a:srgbClr val="5B9BEB"/>
          </a:solidFill>
          <a:ln/>
        </p:spPr>
      </p:sp>
      <p:sp>
        <p:nvSpPr>
          <p:cNvPr id="5" name="step name 0"/>
          <p:cNvSpPr txBox="1"/>
          <p:nvPr/>
        </p:nvSpPr>
        <p:spPr>
          <a:xfrm>
            <a:off x="621792" y="2240280"/>
            <a:ext cx="1225296" cy="3657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Video</a:t>
            </a:r>
            <a:endParaRPr lang="en-US" sz="1800" dirty="0"/>
          </a:p>
        </p:txBody>
      </p:sp>
      <p:sp>
        <p:nvSpPr>
          <p:cNvPr id="6" name="step text 0"/>
          <p:cNvSpPr txBox="1"/>
          <p:nvPr/>
        </p:nvSpPr>
        <p:spPr>
          <a:xfrm>
            <a:off x="640080" y="2651760"/>
            <a:ext cx="1188720" cy="822960"/>
          </a:xfrm>
          <a:prstGeom prst="rect">
            <a:avLst/>
          </a:prstGeom>
          <a:noFill/>
          <a:ln/>
        </p:spPr>
        <p:txBody>
          <a:bodyPr wrap="square" lIns="0" tIns="0" rIns="0" bIns="0" rtlCol="0" anchor="t"/>
          <a:lstStyle/>
          <a:p>
            <a:pPr algn="ctr" indent="0" marL="0">
              <a:buNone/>
            </a:pPr>
            <a:r>
              <a:rPr lang="en-US" sz="1200" dirty="0">
                <a:solidFill>
                  <a:srgbClr val="C9CEDF"/>
                </a:solidFill>
                <a:latin typeface="Calibri" pitchFamily="34" charset="0"/>
                <a:ea typeface="Calibri" pitchFamily="34" charset="-122"/>
                <a:cs typeface="Calibri" pitchFamily="34" charset="-120"/>
              </a:rPr>
              <a:t>a workout, 20–45 min</a:t>
            </a:r>
            <a:endParaRPr lang="en-US" sz="1200" dirty="0"/>
          </a:p>
        </p:txBody>
      </p:sp>
      <p:sp>
        <p:nvSpPr>
          <p:cNvPr id="7" name="arrow 0"/>
          <p:cNvSpPr/>
          <p:nvPr/>
        </p:nvSpPr>
        <p:spPr>
          <a:xfrm>
            <a:off x="1947672" y="2423160"/>
            <a:ext cx="246888" cy="256032"/>
          </a:xfrm>
          <a:prstGeom prst="rightArrow">
            <a:avLst/>
          </a:prstGeom>
          <a:solidFill>
            <a:schemeClr val="accent6"/>
          </a:solidFill>
          <a:ln/>
        </p:spPr>
      </p:sp>
      <p:sp>
        <p:nvSpPr>
          <p:cNvPr id="8" name="step card 1"/>
          <p:cNvSpPr/>
          <p:nvPr/>
        </p:nvSpPr>
        <p:spPr>
          <a:xfrm>
            <a:off x="2231136" y="1600200"/>
            <a:ext cx="1371600" cy="1920240"/>
          </a:xfrm>
          <a:prstGeom prst="roundRect">
            <a:avLst>
              <a:gd name="adj" fmla="val 5333"/>
            </a:avLst>
          </a:prstGeom>
          <a:solidFill>
            <a:srgbClr val="1C2130"/>
          </a:solidFill>
          <a:ln/>
        </p:spPr>
      </p:sp>
      <p:sp>
        <p:nvSpPr>
          <p:cNvPr id="9" name="step dot 1"/>
          <p:cNvSpPr/>
          <p:nvPr/>
        </p:nvSpPr>
        <p:spPr>
          <a:xfrm>
            <a:off x="2734056" y="1783080"/>
            <a:ext cx="365760" cy="365760"/>
          </a:xfrm>
          <a:prstGeom prst="ellipse">
            <a:avLst/>
          </a:prstGeom>
          <a:solidFill>
            <a:srgbClr val="2FCB93"/>
          </a:solidFill>
          <a:ln/>
        </p:spPr>
      </p:sp>
      <p:sp>
        <p:nvSpPr>
          <p:cNvPr id="10" name="step name 1"/>
          <p:cNvSpPr txBox="1"/>
          <p:nvPr/>
        </p:nvSpPr>
        <p:spPr>
          <a:xfrm>
            <a:off x="2304288" y="2240280"/>
            <a:ext cx="1225296" cy="3657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Pose</a:t>
            </a:r>
            <a:endParaRPr lang="en-US" sz="1800" dirty="0"/>
          </a:p>
        </p:txBody>
      </p:sp>
      <p:sp>
        <p:nvSpPr>
          <p:cNvPr id="11" name="step text 1"/>
          <p:cNvSpPr txBox="1"/>
          <p:nvPr/>
        </p:nvSpPr>
        <p:spPr>
          <a:xfrm>
            <a:off x="2322576" y="2651760"/>
            <a:ext cx="1188720" cy="822960"/>
          </a:xfrm>
          <a:prstGeom prst="rect">
            <a:avLst/>
          </a:prstGeom>
          <a:noFill/>
          <a:ln/>
        </p:spPr>
        <p:txBody>
          <a:bodyPr wrap="square" lIns="0" tIns="0" rIns="0" bIns="0" rtlCol="0" anchor="t"/>
          <a:lstStyle/>
          <a:p>
            <a:pPr algn="ctr" indent="0" marL="0">
              <a:buNone/>
            </a:pPr>
            <a:r>
              <a:rPr lang="en-US" sz="1200" dirty="0">
                <a:solidFill>
                  <a:srgbClr val="C9CEDF"/>
                </a:solidFill>
                <a:latin typeface="Calibri" pitchFamily="34" charset="0"/>
                <a:ea typeface="Calibri" pitchFamily="34" charset="-122"/>
                <a:cs typeface="Calibri" pitchFamily="34" charset="-120"/>
              </a:rPr>
              <a:t>17 body joints found in every frame (MediaPipe)</a:t>
            </a:r>
            <a:endParaRPr lang="en-US" sz="1200" dirty="0"/>
          </a:p>
        </p:txBody>
      </p:sp>
      <p:sp>
        <p:nvSpPr>
          <p:cNvPr id="12" name="arrow 1"/>
          <p:cNvSpPr/>
          <p:nvPr/>
        </p:nvSpPr>
        <p:spPr>
          <a:xfrm>
            <a:off x="3630168" y="2423160"/>
            <a:ext cx="246888" cy="256032"/>
          </a:xfrm>
          <a:prstGeom prst="rightArrow">
            <a:avLst/>
          </a:prstGeom>
          <a:solidFill>
            <a:schemeClr val="accent6"/>
          </a:solidFill>
          <a:ln/>
        </p:spPr>
      </p:sp>
      <p:sp>
        <p:nvSpPr>
          <p:cNvPr id="13" name="step card 2"/>
          <p:cNvSpPr/>
          <p:nvPr/>
        </p:nvSpPr>
        <p:spPr>
          <a:xfrm>
            <a:off x="3913632" y="1600200"/>
            <a:ext cx="1371600" cy="1920240"/>
          </a:xfrm>
          <a:prstGeom prst="roundRect">
            <a:avLst>
              <a:gd name="adj" fmla="val 5333"/>
            </a:avLst>
          </a:prstGeom>
          <a:solidFill>
            <a:srgbClr val="1C2130"/>
          </a:solidFill>
          <a:ln/>
        </p:spPr>
      </p:sp>
      <p:sp>
        <p:nvSpPr>
          <p:cNvPr id="14" name="step dot 2"/>
          <p:cNvSpPr/>
          <p:nvPr/>
        </p:nvSpPr>
        <p:spPr>
          <a:xfrm>
            <a:off x="4416552" y="1783080"/>
            <a:ext cx="365760" cy="365760"/>
          </a:xfrm>
          <a:prstGeom prst="ellipse">
            <a:avLst/>
          </a:prstGeom>
          <a:solidFill>
            <a:srgbClr val="F5B82E"/>
          </a:solidFill>
          <a:ln/>
        </p:spPr>
      </p:sp>
      <p:sp>
        <p:nvSpPr>
          <p:cNvPr id="15" name="step name 2"/>
          <p:cNvSpPr txBox="1"/>
          <p:nvPr/>
        </p:nvSpPr>
        <p:spPr>
          <a:xfrm>
            <a:off x="3986784" y="2240280"/>
            <a:ext cx="1225296" cy="3657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Gate</a:t>
            </a:r>
            <a:endParaRPr lang="en-US" sz="1800" dirty="0"/>
          </a:p>
        </p:txBody>
      </p:sp>
      <p:sp>
        <p:nvSpPr>
          <p:cNvPr id="16" name="step text 2"/>
          <p:cNvSpPr txBox="1"/>
          <p:nvPr/>
        </p:nvSpPr>
        <p:spPr>
          <a:xfrm>
            <a:off x="4005072" y="2651760"/>
            <a:ext cx="1188720" cy="822960"/>
          </a:xfrm>
          <a:prstGeom prst="rect">
            <a:avLst/>
          </a:prstGeom>
          <a:noFill/>
          <a:ln/>
        </p:spPr>
        <p:txBody>
          <a:bodyPr wrap="square" lIns="0" tIns="0" rIns="0" bIns="0" rtlCol="0" anchor="t"/>
          <a:lstStyle/>
          <a:p>
            <a:pPr algn="ctr" indent="0" marL="0">
              <a:buNone/>
            </a:pPr>
            <a:r>
              <a:rPr lang="en-US" sz="1200" dirty="0">
                <a:solidFill>
                  <a:srgbClr val="C9CEDF"/>
                </a:solidFill>
                <a:latin typeface="Calibri" pitchFamily="34" charset="0"/>
                <a:ea typeface="Calibri" pitchFamily="34" charset="-122"/>
                <a:cs typeface="Calibri" pitchFamily="34" charset="-120"/>
              </a:rPr>
              <a:t>is this a known exercise, or rest or something else?</a:t>
            </a:r>
            <a:endParaRPr lang="en-US" sz="1200" dirty="0"/>
          </a:p>
        </p:txBody>
      </p:sp>
      <p:sp>
        <p:nvSpPr>
          <p:cNvPr id="17" name="arrow 2"/>
          <p:cNvSpPr/>
          <p:nvPr/>
        </p:nvSpPr>
        <p:spPr>
          <a:xfrm>
            <a:off x="5312664" y="2423160"/>
            <a:ext cx="246888" cy="256032"/>
          </a:xfrm>
          <a:prstGeom prst="rightArrow">
            <a:avLst/>
          </a:prstGeom>
          <a:solidFill>
            <a:schemeClr val="accent6"/>
          </a:solidFill>
          <a:ln/>
        </p:spPr>
      </p:sp>
      <p:sp>
        <p:nvSpPr>
          <p:cNvPr id="18" name="step card 3"/>
          <p:cNvSpPr/>
          <p:nvPr/>
        </p:nvSpPr>
        <p:spPr>
          <a:xfrm>
            <a:off x="5596128" y="1600200"/>
            <a:ext cx="1371600" cy="1920240"/>
          </a:xfrm>
          <a:prstGeom prst="roundRect">
            <a:avLst>
              <a:gd name="adj" fmla="val 5333"/>
            </a:avLst>
          </a:prstGeom>
          <a:solidFill>
            <a:srgbClr val="1C2130"/>
          </a:solidFill>
          <a:ln/>
        </p:spPr>
      </p:sp>
      <p:sp>
        <p:nvSpPr>
          <p:cNvPr id="19" name="step dot 3"/>
          <p:cNvSpPr/>
          <p:nvPr/>
        </p:nvSpPr>
        <p:spPr>
          <a:xfrm>
            <a:off x="6099048" y="1783080"/>
            <a:ext cx="365760" cy="365760"/>
          </a:xfrm>
          <a:prstGeom prst="ellipse">
            <a:avLst/>
          </a:prstGeom>
          <a:solidFill>
            <a:srgbClr val="FF7A45"/>
          </a:solidFill>
          <a:ln/>
        </p:spPr>
      </p:sp>
      <p:sp>
        <p:nvSpPr>
          <p:cNvPr id="20" name="step name 3"/>
          <p:cNvSpPr txBox="1"/>
          <p:nvPr/>
        </p:nvSpPr>
        <p:spPr>
          <a:xfrm>
            <a:off x="5669280" y="2240280"/>
            <a:ext cx="1225296" cy="3657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Classifier</a:t>
            </a:r>
            <a:endParaRPr lang="en-US" sz="1800" dirty="0"/>
          </a:p>
        </p:txBody>
      </p:sp>
      <p:sp>
        <p:nvSpPr>
          <p:cNvPr id="21" name="step text 3"/>
          <p:cNvSpPr txBox="1"/>
          <p:nvPr/>
        </p:nvSpPr>
        <p:spPr>
          <a:xfrm>
            <a:off x="5687568" y="2651760"/>
            <a:ext cx="1188720" cy="822960"/>
          </a:xfrm>
          <a:prstGeom prst="rect">
            <a:avLst/>
          </a:prstGeom>
          <a:noFill/>
          <a:ln/>
        </p:spPr>
        <p:txBody>
          <a:bodyPr wrap="square" lIns="0" tIns="0" rIns="0" bIns="0" rtlCol="0" anchor="t"/>
          <a:lstStyle/>
          <a:p>
            <a:pPr algn="ctr" indent="0" marL="0">
              <a:buNone/>
            </a:pPr>
            <a:r>
              <a:rPr lang="en-US" sz="1200" dirty="0">
                <a:solidFill>
                  <a:srgbClr val="C9CEDF"/>
                </a:solidFill>
                <a:latin typeface="Calibri" pitchFamily="34" charset="0"/>
                <a:ea typeface="Calibri" pitchFamily="34" charset="-122"/>
                <a:cs typeface="Calibri" pitchFamily="34" charset="-120"/>
              </a:rPr>
              <a:t>which of 14 exercises is it?</a:t>
            </a:r>
            <a:endParaRPr lang="en-US" sz="1200" dirty="0"/>
          </a:p>
        </p:txBody>
      </p:sp>
      <p:sp>
        <p:nvSpPr>
          <p:cNvPr id="22" name="arrow 3"/>
          <p:cNvSpPr/>
          <p:nvPr/>
        </p:nvSpPr>
        <p:spPr>
          <a:xfrm>
            <a:off x="6995160" y="2423160"/>
            <a:ext cx="246888" cy="256032"/>
          </a:xfrm>
          <a:prstGeom prst="rightArrow">
            <a:avLst/>
          </a:prstGeom>
          <a:solidFill>
            <a:schemeClr val="accent6"/>
          </a:solidFill>
          <a:ln/>
        </p:spPr>
      </p:sp>
      <p:sp>
        <p:nvSpPr>
          <p:cNvPr id="23" name="step card 4"/>
          <p:cNvSpPr/>
          <p:nvPr/>
        </p:nvSpPr>
        <p:spPr>
          <a:xfrm>
            <a:off x="7278624" y="1600200"/>
            <a:ext cx="1371600" cy="1920240"/>
          </a:xfrm>
          <a:prstGeom prst="roundRect">
            <a:avLst>
              <a:gd name="adj" fmla="val 5333"/>
            </a:avLst>
          </a:prstGeom>
          <a:solidFill>
            <a:srgbClr val="1C2130"/>
          </a:solidFill>
          <a:ln/>
        </p:spPr>
      </p:sp>
      <p:sp>
        <p:nvSpPr>
          <p:cNvPr id="24" name="step dot 4"/>
          <p:cNvSpPr/>
          <p:nvPr/>
        </p:nvSpPr>
        <p:spPr>
          <a:xfrm>
            <a:off x="7781544" y="1783080"/>
            <a:ext cx="365760" cy="365760"/>
          </a:xfrm>
          <a:prstGeom prst="ellipse">
            <a:avLst/>
          </a:prstGeom>
          <a:solidFill>
            <a:srgbClr val="8F84F0"/>
          </a:solidFill>
          <a:ln/>
        </p:spPr>
      </p:sp>
      <p:sp>
        <p:nvSpPr>
          <p:cNvPr id="25" name="step name 4"/>
          <p:cNvSpPr txBox="1"/>
          <p:nvPr/>
        </p:nvSpPr>
        <p:spPr>
          <a:xfrm>
            <a:off x="7351776" y="2240280"/>
            <a:ext cx="1225296" cy="3657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Timeline</a:t>
            </a:r>
            <a:endParaRPr lang="en-US" sz="1800" dirty="0"/>
          </a:p>
        </p:txBody>
      </p:sp>
      <p:sp>
        <p:nvSpPr>
          <p:cNvPr id="26" name="step text 4"/>
          <p:cNvSpPr txBox="1"/>
          <p:nvPr/>
        </p:nvSpPr>
        <p:spPr>
          <a:xfrm>
            <a:off x="7370064" y="2651760"/>
            <a:ext cx="1188720" cy="822960"/>
          </a:xfrm>
          <a:prstGeom prst="rect">
            <a:avLst/>
          </a:prstGeom>
          <a:noFill/>
          <a:ln/>
        </p:spPr>
        <p:txBody>
          <a:bodyPr wrap="square" lIns="0" tIns="0" rIns="0" bIns="0" rtlCol="0" anchor="t"/>
          <a:lstStyle/>
          <a:p>
            <a:pPr algn="ctr" indent="0" marL="0">
              <a:buNone/>
            </a:pPr>
            <a:r>
              <a:rPr lang="en-US" sz="1200" dirty="0">
                <a:solidFill>
                  <a:srgbClr val="C9CEDF"/>
                </a:solidFill>
                <a:latin typeface="Calibri" pitchFamily="34" charset="0"/>
                <a:ea typeface="Calibri" pitchFamily="34" charset="-122"/>
                <a:cs typeface="Calibri" pitchFamily="34" charset="-120"/>
              </a:rPr>
              <a:t>“0:45–1:30 squats …”</a:t>
            </a:r>
            <a:endParaRPr lang="en-US" sz="1200" dirty="0"/>
          </a:p>
        </p:txBody>
      </p:sp>
      <p:sp>
        <p:nvSpPr>
          <p:cNvPr id="27" name="caption"/>
          <p:cNvSpPr txBox="1"/>
          <p:nvPr/>
        </p:nvSpPr>
        <p:spPr>
          <a:xfrm>
            <a:off x="548640" y="3840480"/>
            <a:ext cx="8046720" cy="731520"/>
          </a:xfrm>
          <a:prstGeom prst="rect">
            <a:avLst/>
          </a:prstGeom>
          <a:noFill/>
          <a:ln/>
        </p:spPr>
        <p:txBody>
          <a:bodyPr wrap="square" lIns="0" tIns="0" rIns="0" bIns="0" rtlCol="0" anchor="ctr"/>
          <a:lstStyle/>
          <a:p>
            <a:pPr indent="0" marL="0">
              <a:buNone/>
            </a:pPr>
            <a:r>
              <a:rPr lang="en-US" sz="1600" dirty="0">
                <a:solidFill>
                  <a:srgbClr val="C9CEDF"/>
                </a:solidFill>
                <a:latin typeface="Calibri" pitchFamily="34" charset="0"/>
                <a:ea typeface="Calibri" pitchFamily="34" charset="-122"/>
                <a:cs typeface="Calibri" pitchFamily="34" charset="-120"/>
              </a:rPr>
              <a:t>Two small neural networks read how the body moves over about 4 seconds. Rests, warm-ups, and moves we don’t support should come out as “unknown”.</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Short clips looked great. Real workouts did not</a:t>
            </a:r>
            <a:endParaRPr lang="en-US" sz="3200" dirty="0"/>
          </a:p>
        </p:txBody>
      </p:sp>
      <p:sp>
        <p:nvSpPr>
          <p:cNvPr id="3" name="stat 82%"/>
          <p:cNvSpPr txBox="1"/>
          <p:nvPr/>
        </p:nvSpPr>
        <p:spPr>
          <a:xfrm>
            <a:off x="548640" y="1554480"/>
            <a:ext cx="2468880" cy="914400"/>
          </a:xfrm>
          <a:prstGeom prst="rect">
            <a:avLst/>
          </a:prstGeom>
          <a:noFill/>
          <a:ln/>
        </p:spPr>
        <p:txBody>
          <a:bodyPr wrap="square" lIns="0" tIns="0" rIns="0" bIns="0" rtlCol="0" anchor="t"/>
          <a:lstStyle/>
          <a:p>
            <a:pPr algn="l" indent="0" marL="0">
              <a:buNone/>
            </a:pPr>
            <a:r>
              <a:rPr lang="en-US" sz="5400" b="1" dirty="0">
                <a:solidFill>
                  <a:srgbClr val="5B9BEB"/>
                </a:solidFill>
                <a:latin typeface="Cambria" pitchFamily="34" charset="0"/>
                <a:ea typeface="Cambria" pitchFamily="34" charset="-122"/>
                <a:cs typeface="Cambria" pitchFamily="34" charset="-120"/>
              </a:rPr>
              <a:t>82%</a:t>
            </a:r>
            <a:endParaRPr lang="en-US" sz="5400" dirty="0"/>
          </a:p>
        </p:txBody>
      </p:sp>
      <p:sp>
        <p:nvSpPr>
          <p:cNvPr id="4" name="label 82%"/>
          <p:cNvSpPr txBox="1"/>
          <p:nvPr/>
        </p:nvSpPr>
        <p:spPr>
          <a:xfrm>
            <a:off x="548640" y="2468880"/>
            <a:ext cx="246888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score on short, trimmed clips (the usual test)</a:t>
            </a:r>
            <a:endParaRPr lang="en-US" sz="1600" dirty="0"/>
          </a:p>
        </p:txBody>
      </p:sp>
      <p:sp>
        <p:nvSpPr>
          <p:cNvPr id="5" name="stat 33%"/>
          <p:cNvSpPr txBox="1"/>
          <p:nvPr/>
        </p:nvSpPr>
        <p:spPr>
          <a:xfrm>
            <a:off x="3337560" y="1554480"/>
            <a:ext cx="2468880" cy="914400"/>
          </a:xfrm>
          <a:prstGeom prst="rect">
            <a:avLst/>
          </a:prstGeom>
          <a:noFill/>
          <a:ln/>
        </p:spPr>
        <p:txBody>
          <a:bodyPr wrap="square" lIns="0" tIns="0" rIns="0" bIns="0" rtlCol="0" anchor="t"/>
          <a:lstStyle/>
          <a:p>
            <a:pPr algn="l" indent="0" marL="0">
              <a:buNone/>
            </a:pPr>
            <a:r>
              <a:rPr lang="en-US" sz="5400" b="1" dirty="0">
                <a:solidFill>
                  <a:srgbClr val="FF7A45"/>
                </a:solidFill>
                <a:latin typeface="Cambria" pitchFamily="34" charset="0"/>
                <a:ea typeface="Cambria" pitchFamily="34" charset="-122"/>
                <a:cs typeface="Cambria" pitchFamily="34" charset="-120"/>
              </a:rPr>
              <a:t>33%</a:t>
            </a:r>
            <a:endParaRPr lang="en-US" sz="5400" dirty="0"/>
          </a:p>
        </p:txBody>
      </p:sp>
      <p:sp>
        <p:nvSpPr>
          <p:cNvPr id="6" name="label 33%"/>
          <p:cNvSpPr txBox="1"/>
          <p:nvPr/>
        </p:nvSpPr>
        <p:spPr>
          <a:xfrm>
            <a:off x="3337560" y="2468880"/>
            <a:ext cx="246888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score on full, real workouts it had never seen</a:t>
            </a:r>
            <a:endParaRPr lang="en-US" sz="1600" dirty="0"/>
          </a:p>
        </p:txBody>
      </p:sp>
      <p:sp>
        <p:nvSpPr>
          <p:cNvPr id="7" name="stat 55%"/>
          <p:cNvSpPr txBox="1"/>
          <p:nvPr/>
        </p:nvSpPr>
        <p:spPr>
          <a:xfrm>
            <a:off x="6126480" y="1554480"/>
            <a:ext cx="2468880" cy="914400"/>
          </a:xfrm>
          <a:prstGeom prst="rect">
            <a:avLst/>
          </a:prstGeom>
          <a:noFill/>
          <a:ln/>
        </p:spPr>
        <p:txBody>
          <a:bodyPr wrap="square" lIns="0" tIns="0" rIns="0" bIns="0" rtlCol="0" anchor="t"/>
          <a:lstStyle/>
          <a:p>
            <a:pPr algn="l" indent="0" marL="0">
              <a:buNone/>
            </a:pPr>
            <a:r>
              <a:rPr lang="en-US" sz="5400" b="1" dirty="0">
                <a:solidFill>
                  <a:srgbClr val="8F84F0"/>
                </a:solidFill>
                <a:latin typeface="Cambria" pitchFamily="34" charset="0"/>
                <a:ea typeface="Cambria" pitchFamily="34" charset="-122"/>
                <a:cs typeface="Cambria" pitchFamily="34" charset="-120"/>
              </a:rPr>
              <a:t>55%</a:t>
            </a:r>
            <a:endParaRPr lang="en-US" sz="5400" dirty="0"/>
          </a:p>
        </p:txBody>
      </p:sp>
      <p:sp>
        <p:nvSpPr>
          <p:cNvPr id="8" name="label 55%"/>
          <p:cNvSpPr txBox="1"/>
          <p:nvPr/>
        </p:nvSpPr>
        <p:spPr>
          <a:xfrm>
            <a:off x="6126480" y="2468880"/>
            <a:ext cx="246888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of real exercise time thrown away as “unknown”</a:t>
            </a:r>
            <a:endParaRPr lang="en-US" sz="1600" dirty="0"/>
          </a:p>
        </p:txBody>
      </p:sp>
      <p:sp>
        <p:nvSpPr>
          <p:cNvPr id="9" name="caption"/>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600" dirty="0">
                <a:solidFill>
                  <a:srgbClr val="C9CEDF"/>
                </a:solidFill>
                <a:latin typeface="Calibri" pitchFamily="34" charset="0"/>
                <a:ea typeface="Calibri" pitchFamily="34" charset="-122"/>
                <a:cs typeface="Calibri" pitchFamily="34" charset="-120"/>
              </a:rPr>
              <a:t>Real sessions have rests, timers, intros, camera changes, and exercises the model barely knew: sit-up, row, lunge, shoulder press, and triceps all scored 0%.</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The fix: label real workouts, second by second</a:t>
            </a:r>
            <a:endParaRPr lang="en-US" sz="3200" dirty="0"/>
          </a:p>
        </p:txBody>
      </p:sp>
      <p:sp>
        <p:nvSpPr>
          <p:cNvPr id="3" name="stat 34 h"/>
          <p:cNvSpPr txBox="1"/>
          <p:nvPr/>
        </p:nvSpPr>
        <p:spPr>
          <a:xfrm>
            <a:off x="548640" y="1554480"/>
            <a:ext cx="2468880" cy="914400"/>
          </a:xfrm>
          <a:prstGeom prst="rect">
            <a:avLst/>
          </a:prstGeom>
          <a:noFill/>
          <a:ln/>
        </p:spPr>
        <p:txBody>
          <a:bodyPr wrap="square" lIns="0" tIns="0" rIns="0" bIns="0" rtlCol="0" anchor="t"/>
          <a:lstStyle/>
          <a:p>
            <a:pPr algn="l" indent="0" marL="0">
              <a:buNone/>
            </a:pPr>
            <a:r>
              <a:rPr lang="en-US" sz="5400" b="1" dirty="0">
                <a:solidFill>
                  <a:srgbClr val="FF7A45"/>
                </a:solidFill>
                <a:latin typeface="Cambria" pitchFamily="34" charset="0"/>
                <a:ea typeface="Cambria" pitchFamily="34" charset="-122"/>
                <a:cs typeface="Cambria" pitchFamily="34" charset="-120"/>
              </a:rPr>
              <a:t>34 h</a:t>
            </a:r>
            <a:endParaRPr lang="en-US" sz="5400" dirty="0"/>
          </a:p>
        </p:txBody>
      </p:sp>
      <p:sp>
        <p:nvSpPr>
          <p:cNvPr id="4" name="label 34 h"/>
          <p:cNvSpPr txBox="1"/>
          <p:nvPr/>
        </p:nvSpPr>
        <p:spPr>
          <a:xfrm>
            <a:off x="548640" y="2468880"/>
            <a:ext cx="246888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of video turned into pose data, from about 2,900 clips and videos</a:t>
            </a:r>
            <a:endParaRPr lang="en-US" sz="1600" dirty="0"/>
          </a:p>
        </p:txBody>
      </p:sp>
      <p:sp>
        <p:nvSpPr>
          <p:cNvPr id="5" name="stat 19 h"/>
          <p:cNvSpPr txBox="1"/>
          <p:nvPr/>
        </p:nvSpPr>
        <p:spPr>
          <a:xfrm>
            <a:off x="3337560" y="1554480"/>
            <a:ext cx="2468880" cy="914400"/>
          </a:xfrm>
          <a:prstGeom prst="rect">
            <a:avLst/>
          </a:prstGeom>
          <a:noFill/>
          <a:ln/>
        </p:spPr>
        <p:txBody>
          <a:bodyPr wrap="square" lIns="0" tIns="0" rIns="0" bIns="0" rtlCol="0" anchor="t"/>
          <a:lstStyle/>
          <a:p>
            <a:pPr algn="l" indent="0" marL="0">
              <a:buNone/>
            </a:pPr>
            <a:r>
              <a:rPr lang="en-US" sz="5400" b="1" dirty="0">
                <a:solidFill>
                  <a:srgbClr val="8F84F0"/>
                </a:solidFill>
                <a:latin typeface="Cambria" pitchFamily="34" charset="0"/>
                <a:ea typeface="Cambria" pitchFamily="34" charset="-122"/>
                <a:cs typeface="Cambria" pitchFamily="34" charset="-120"/>
              </a:rPr>
              <a:t>19 h</a:t>
            </a:r>
            <a:endParaRPr lang="en-US" sz="5400" dirty="0"/>
          </a:p>
        </p:txBody>
      </p:sp>
      <p:sp>
        <p:nvSpPr>
          <p:cNvPr id="6" name="label 19 h"/>
          <p:cNvSpPr txBox="1"/>
          <p:nvPr/>
        </p:nvSpPr>
        <p:spPr>
          <a:xfrm>
            <a:off x="3337560" y="2468880"/>
            <a:ext cx="246888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of it real follow-along workouts: 38 videos labeled second by second</a:t>
            </a:r>
            <a:endParaRPr lang="en-US" sz="1600" dirty="0"/>
          </a:p>
        </p:txBody>
      </p:sp>
      <p:sp>
        <p:nvSpPr>
          <p:cNvPr id="7" name="stat 100%"/>
          <p:cNvSpPr txBox="1"/>
          <p:nvPr/>
        </p:nvSpPr>
        <p:spPr>
          <a:xfrm>
            <a:off x="6126480" y="1554480"/>
            <a:ext cx="2468880" cy="914400"/>
          </a:xfrm>
          <a:prstGeom prst="rect">
            <a:avLst/>
          </a:prstGeom>
          <a:noFill/>
          <a:ln/>
        </p:spPr>
        <p:txBody>
          <a:bodyPr wrap="square" lIns="0" tIns="0" rIns="0" bIns="0" rtlCol="0" anchor="t"/>
          <a:lstStyle/>
          <a:p>
            <a:pPr algn="l" indent="0" marL="0">
              <a:buNone/>
            </a:pPr>
            <a:r>
              <a:rPr lang="en-US" sz="5400" b="1" dirty="0">
                <a:solidFill>
                  <a:srgbClr val="2FCB93"/>
                </a:solidFill>
                <a:latin typeface="Cambria" pitchFamily="34" charset="0"/>
                <a:ea typeface="Cambria" pitchFamily="34" charset="-122"/>
                <a:cs typeface="Cambria" pitchFamily="34" charset="-120"/>
              </a:rPr>
              <a:t>100%</a:t>
            </a:r>
            <a:endParaRPr lang="en-US" sz="5400" dirty="0"/>
          </a:p>
        </p:txBody>
      </p:sp>
      <p:sp>
        <p:nvSpPr>
          <p:cNvPr id="8" name="label 100%"/>
          <p:cNvSpPr txBox="1"/>
          <p:nvPr/>
        </p:nvSpPr>
        <p:spPr>
          <a:xfrm>
            <a:off x="6126480" y="2468880"/>
            <a:ext cx="246888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of 210 random segments spot-checked by hand were correct</a:t>
            </a:r>
            <a:endParaRPr lang="en-US" sz="1600" dirty="0"/>
          </a:p>
        </p:txBody>
      </p:sp>
      <p:sp>
        <p:nvSpPr>
          <p:cNvPr id="9" name="caption"/>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600" dirty="0">
                <a:solidFill>
                  <a:srgbClr val="C9CEDF"/>
                </a:solidFill>
                <a:latin typeface="Calibri" pitchFamily="34" charset="0"/>
                <a:ea typeface="Calibri" pitchFamily="34" charset="-122"/>
                <a:cs typeface="Calibri" pitchFamily="34" charset="-120"/>
              </a:rPr>
              <a:t>Every second of these 38 workouts is rest, warm-up, a supported exercise, or “unknown”. Together with about 2,850 shorter clips, that is roughly 34 hours of video turned into body-pose data. Two video sets were locked away and never used to train or tune.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More real workouts raised the score every time</a:t>
            </a:r>
            <a:endParaRPr lang="en-US" sz="3200" dirty="0"/>
          </a:p>
        </p:txBody>
      </p:sp>
      <p:sp>
        <p:nvSpPr>
          <p:cNvPr id="3" name="chart card"/>
          <p:cNvSpPr/>
          <p:nvPr/>
        </p:nvSpPr>
        <p:spPr>
          <a:xfrm>
            <a:off x="438912" y="1097280"/>
            <a:ext cx="8266176" cy="3721608"/>
          </a:xfrm>
          <a:prstGeom prst="roundRect">
            <a:avLst>
              <a:gd name="adj" fmla="val 1966"/>
            </a:avLst>
          </a:prstGeom>
          <a:solidFill>
            <a:srgbClr val="FCFCFB"/>
          </a:solidFill>
          <a:ln/>
        </p:spPr>
      </p:sp>
      <p:pic>
        <p:nvPicPr>
          <p:cNvPr id="4" name="chart progression" descr="Bar charts of Macro F1 on two locked test sets: 32.6, 32.3 and 47.6 percent on test 1; 38.7 and 43.5 percent on test 2">    </p:cNvPr>
          <p:cNvPicPr>
            <a:picLocks noChangeAspect="1"/>
          </p:cNvPicPr>
          <p:nvPr/>
        </p:nvPicPr>
        <p:blipFill>
          <a:blip r:embed="rId1"/>
          <a:stretch>
            <a:fillRect/>
          </a:stretch>
        </p:blipFill>
        <p:spPr>
          <a:xfrm>
            <a:off x="548640" y="1188720"/>
            <a:ext cx="8046720" cy="3538728"/>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Weak exercises improved; row slipped</a:t>
            </a:r>
            <a:endParaRPr lang="en-US" sz="3200" dirty="0"/>
          </a:p>
        </p:txBody>
      </p:sp>
      <p:sp>
        <p:nvSpPr>
          <p:cNvPr id="3" name="chart card"/>
          <p:cNvSpPr/>
          <p:nvPr/>
        </p:nvSpPr>
        <p:spPr>
          <a:xfrm>
            <a:off x="713232" y="1097280"/>
            <a:ext cx="7717536" cy="3785616"/>
          </a:xfrm>
          <a:prstGeom prst="roundRect">
            <a:avLst>
              <a:gd name="adj" fmla="val 1932"/>
            </a:avLst>
          </a:prstGeom>
          <a:solidFill>
            <a:srgbClr val="FCFCFB"/>
          </a:solidFill>
          <a:ln/>
        </p:spPr>
      </p:sp>
      <p:pic>
        <p:nvPicPr>
          <p:cNvPr id="4" name="chart weak classes" descr="Grouped bars of recognized time per exercise for final v1 and v2: lateral raise 5 to 64, bicep curl 65 to 81, tricep extension 60 to 72, dumbbell row 41 to 22">    </p:cNvPr>
          <p:cNvPicPr>
            <a:picLocks noChangeAspect="1"/>
          </p:cNvPicPr>
          <p:nvPr/>
        </p:nvPicPr>
        <p:blipFill>
          <a:blip r:embed="rId1"/>
          <a:stretch>
            <a:fillRect/>
          </a:stretch>
        </p:blipFill>
        <p:spPr>
          <a:xfrm>
            <a:off x="822960" y="1188720"/>
            <a:ext cx="7498080" cy="3602736"/>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What the model sees, minute by minute</a:t>
            </a:r>
            <a:endParaRPr lang="en-US" sz="3200" dirty="0"/>
          </a:p>
        </p:txBody>
      </p:sp>
      <p:sp>
        <p:nvSpPr>
          <p:cNvPr id="3" name="chart card"/>
          <p:cNvSpPr/>
          <p:nvPr/>
        </p:nvSpPr>
        <p:spPr>
          <a:xfrm>
            <a:off x="438912" y="1097280"/>
            <a:ext cx="8266176" cy="2084832"/>
          </a:xfrm>
          <a:prstGeom prst="roundRect">
            <a:avLst>
              <a:gd name="adj" fmla="val 3509"/>
            </a:avLst>
          </a:prstGeom>
          <a:solidFill>
            <a:srgbClr val="FCFCFB"/>
          </a:solidFill>
          <a:ln/>
        </p:spPr>
      </p:sp>
      <p:pic>
        <p:nvPicPr>
          <p:cNvPr id="4" name="chart timeline" descr="Timeline of one unseen workout: hand-labeled exercise blocks on top, model prediction below">    </p:cNvPr>
          <p:cNvPicPr>
            <a:picLocks noChangeAspect="1"/>
          </p:cNvPicPr>
          <p:nvPr/>
        </p:nvPicPr>
        <p:blipFill>
          <a:blip r:embed="rId1"/>
          <a:stretch>
            <a:fillRect/>
          </a:stretch>
        </p:blipFill>
        <p:spPr>
          <a:xfrm>
            <a:off x="548640" y="1188720"/>
            <a:ext cx="8046720" cy="1901952"/>
          </a:xfrm>
          <a:prstGeom prst="rect">
            <a:avLst/>
          </a:prstGeom>
        </p:spPr>
      </p:pic>
      <p:sp>
        <p:nvSpPr>
          <p:cNvPr id="5" name="right column"/>
          <p:cNvSpPr txBox="1"/>
          <p:nvPr/>
        </p:nvSpPr>
        <p:spPr>
          <a:xfrm>
            <a:off x="548640" y="3337560"/>
            <a:ext cx="3840480" cy="1371600"/>
          </a:xfrm>
          <a:prstGeom prst="rect">
            <a:avLst/>
          </a:prstGeom>
          <a:noFill/>
          <a:ln/>
        </p:spPr>
        <p:txBody>
          <a:bodyPr wrap="square" lIns="0" tIns="0" rIns="0" bIns="0" rtlCol="0" anchor="t"/>
          <a:lstStyle/>
          <a:p>
            <a:pPr indent="0" marL="0">
              <a:spcAft>
                <a:spcPts val="400"/>
              </a:spcAft>
              <a:buNone/>
            </a:pPr>
            <a:r>
              <a:rPr lang="en-US" sz="1800" b="1" dirty="0">
                <a:solidFill>
                  <a:srgbClr val="2FCB93"/>
                </a:solidFill>
                <a:latin typeface="Cambria" pitchFamily="34" charset="0"/>
                <a:ea typeface="Cambria" pitchFamily="34" charset="-122"/>
                <a:cs typeface="Cambria" pitchFamily="34" charset="-120"/>
              </a:rPr>
              <a:t>Gets right</a:t>
            </a:r>
            <a:endParaRPr lang="en-US" sz="1400" dirty="0"/>
          </a:p>
          <a:p>
            <a:pPr marL="342900" indent="-342900">
              <a:spcAft>
                <a:spcPts val="400"/>
              </a:spcAft>
              <a:buSzPct val="100000"/>
              <a:buChar char="•"/>
            </a:pPr>
            <a:r>
              <a:rPr lang="en-US" sz="1400" dirty="0">
                <a:solidFill>
                  <a:srgbClr val="C9CEDF"/>
                </a:solidFill>
                <a:latin typeface="Calibri" pitchFamily="34" charset="0"/>
                <a:ea typeface="Calibri" pitchFamily="34" charset="-122"/>
                <a:cs typeface="Calibri" pitchFamily="34" charset="-120"/>
              </a:rPr>
              <a:t>Most curl and triceps blocks are found in the right place.</a:t>
            </a:r>
            <a:endParaRPr lang="en-US" sz="1400" dirty="0"/>
          </a:p>
          <a:p>
            <a:pPr marL="342900" indent="-342900">
              <a:spcAft>
                <a:spcPts val="400"/>
              </a:spcAft>
              <a:buSzPct val="100000"/>
              <a:buChar char="•"/>
            </a:pPr>
            <a:r>
              <a:rPr lang="en-US" sz="1400" dirty="0">
                <a:solidFill>
                  <a:srgbClr val="C9CEDF"/>
                </a:solidFill>
                <a:latin typeface="Calibri" pitchFamily="34" charset="0"/>
                <a:ea typeface="Calibri" pitchFamily="34" charset="-122"/>
                <a:cs typeface="Calibri" pitchFamily="34" charset="-120"/>
              </a:rPr>
              <a:t>Rests and timer screens mostly stay “unknown”.</a:t>
            </a:r>
            <a:endParaRPr lang="en-US" sz="1400" dirty="0"/>
          </a:p>
        </p:txBody>
      </p:sp>
      <p:sp>
        <p:nvSpPr>
          <p:cNvPr id="6" name="wrong column"/>
          <p:cNvSpPr txBox="1"/>
          <p:nvPr/>
        </p:nvSpPr>
        <p:spPr>
          <a:xfrm>
            <a:off x="4754880" y="3337560"/>
            <a:ext cx="3840480" cy="1371600"/>
          </a:xfrm>
          <a:prstGeom prst="rect">
            <a:avLst/>
          </a:prstGeom>
          <a:noFill/>
          <a:ln/>
        </p:spPr>
        <p:txBody>
          <a:bodyPr wrap="square" lIns="0" tIns="0" rIns="0" bIns="0" rtlCol="0" anchor="t"/>
          <a:lstStyle/>
          <a:p>
            <a:pPr indent="0" marL="0">
              <a:spcAft>
                <a:spcPts val="400"/>
              </a:spcAft>
              <a:buNone/>
            </a:pPr>
            <a:r>
              <a:rPr lang="en-US" sz="1800" b="1" dirty="0">
                <a:solidFill>
                  <a:srgbClr val="FF7A45"/>
                </a:solidFill>
                <a:latin typeface="Cambria" pitchFamily="34" charset="0"/>
                <a:ea typeface="Cambria" pitchFamily="34" charset="-122"/>
                <a:cs typeface="Cambria" pitchFamily="34" charset="-120"/>
              </a:rPr>
              <a:t>Still gets wrong</a:t>
            </a:r>
            <a:endParaRPr lang="en-US" sz="1400" dirty="0"/>
          </a:p>
          <a:p>
            <a:pPr marL="342900" indent="-342900">
              <a:spcAft>
                <a:spcPts val="400"/>
              </a:spcAft>
              <a:buSzPct val="100000"/>
              <a:buChar char="•"/>
            </a:pPr>
            <a:r>
              <a:rPr lang="en-US" sz="1400" dirty="0">
                <a:solidFill>
                  <a:srgbClr val="C9CEDF"/>
                </a:solidFill>
                <a:latin typeface="Calibri" pitchFamily="34" charset="0"/>
                <a:ea typeface="Calibri" pitchFamily="34" charset="-122"/>
                <a:cs typeface="Calibri" pitchFamily="34" charset="-120"/>
              </a:rPr>
              <a:t>About 30% of real exercise time is still missed.</a:t>
            </a:r>
            <a:endParaRPr lang="en-US" sz="1400" dirty="0"/>
          </a:p>
          <a:p>
            <a:pPr marL="342900" indent="-342900">
              <a:spcAft>
                <a:spcPts val="400"/>
              </a:spcAft>
              <a:buSzPct val="100000"/>
              <a:buChar char="•"/>
            </a:pPr>
            <a:r>
              <a:rPr lang="en-US" sz="1400" dirty="0">
                <a:solidFill>
                  <a:srgbClr val="C9CEDF"/>
                </a:solidFill>
                <a:latin typeface="Calibri" pitchFamily="34" charset="0"/>
                <a:ea typeface="Calibri" pitchFamily="34" charset="-122"/>
                <a:cs typeface="Calibri" pitchFamily="34" charset="-120"/>
              </a:rPr>
              <a:t>Many rows and lateral raises become “unknown”.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How we kept the results honest</a:t>
            </a:r>
            <a:endParaRPr lang="en-US" sz="3200" dirty="0"/>
          </a:p>
        </p:txBody>
      </p:sp>
      <p:sp>
        <p:nvSpPr>
          <p:cNvPr id="3" name="number circle 0"/>
          <p:cNvSpPr/>
          <p:nvPr/>
        </p:nvSpPr>
        <p:spPr>
          <a:xfrm>
            <a:off x="548640" y="1371600"/>
            <a:ext cx="502920" cy="502920"/>
          </a:xfrm>
          <a:prstGeom prst="ellipse">
            <a:avLst/>
          </a:prstGeom>
          <a:solidFill>
            <a:srgbClr val="FF7A45"/>
          </a:solidFill>
          <a:ln/>
        </p:spPr>
      </p:sp>
      <p:sp>
        <p:nvSpPr>
          <p:cNvPr id="4" name="number 0"/>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5" name="row title 0"/>
          <p:cNvSpPr txBox="1"/>
          <p:nvPr/>
        </p:nvSpPr>
        <p:spPr>
          <a:xfrm>
            <a:off x="1280160" y="1325880"/>
            <a:ext cx="722376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Rules before results</a:t>
            </a:r>
            <a:endParaRPr lang="en-US" sz="1800" dirty="0"/>
          </a:p>
        </p:txBody>
      </p:sp>
      <p:sp>
        <p:nvSpPr>
          <p:cNvPr id="6" name="row text 0"/>
          <p:cNvSpPr txBox="1"/>
          <p:nvPr/>
        </p:nvSpPr>
        <p:spPr>
          <a:xfrm>
            <a:off x="1280160" y="1655064"/>
            <a:ext cx="7223760" cy="365760"/>
          </a:xfrm>
          <a:prstGeom prst="rect">
            <a:avLst/>
          </a:prstGeom>
          <a:noFill/>
          <a:ln/>
        </p:spPr>
        <p:txBody>
          <a:bodyPr wrap="square" lIns="0" tIns="0" rIns="0" bIns="0" rtlCol="0" anchor="ctr"/>
          <a:lstStyle/>
          <a:p>
            <a:pPr indent="0" marL="0">
              <a:buNone/>
            </a:pPr>
            <a:r>
              <a:rPr lang="en-US" sz="1400" dirty="0">
                <a:solidFill>
                  <a:srgbClr val="C9CEDF"/>
                </a:solidFill>
                <a:latin typeface="Calibri" pitchFamily="34" charset="0"/>
                <a:ea typeface="Calibri" pitchFamily="34" charset="-122"/>
                <a:cs typeface="Calibri" pitchFamily="34" charset="-120"/>
              </a:rPr>
              <a:t>Every experiment’s pass rule was written and pushed before it ran.</a:t>
            </a:r>
            <a:endParaRPr lang="en-US" sz="1400" dirty="0"/>
          </a:p>
        </p:txBody>
      </p:sp>
      <p:sp>
        <p:nvSpPr>
          <p:cNvPr id="7" name="number circle 1"/>
          <p:cNvSpPr/>
          <p:nvPr/>
        </p:nvSpPr>
        <p:spPr>
          <a:xfrm>
            <a:off x="548640" y="2176272"/>
            <a:ext cx="502920" cy="502920"/>
          </a:xfrm>
          <a:prstGeom prst="ellipse">
            <a:avLst/>
          </a:prstGeom>
          <a:solidFill>
            <a:srgbClr val="8F84F0"/>
          </a:solidFill>
          <a:ln/>
        </p:spPr>
      </p:sp>
      <p:sp>
        <p:nvSpPr>
          <p:cNvPr id="8" name="number 1"/>
          <p:cNvSpPr txBox="1"/>
          <p:nvPr/>
        </p:nvSpPr>
        <p:spPr>
          <a:xfrm>
            <a:off x="548640" y="2176272"/>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9" name="row title 1"/>
          <p:cNvSpPr txBox="1"/>
          <p:nvPr/>
        </p:nvSpPr>
        <p:spPr>
          <a:xfrm>
            <a:off x="1280160" y="2130552"/>
            <a:ext cx="722376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Locked tests</a:t>
            </a:r>
            <a:endParaRPr lang="en-US" sz="1800" dirty="0"/>
          </a:p>
        </p:txBody>
      </p:sp>
      <p:sp>
        <p:nvSpPr>
          <p:cNvPr id="10" name="row text 1"/>
          <p:cNvSpPr txBox="1"/>
          <p:nvPr/>
        </p:nvSpPr>
        <p:spPr>
          <a:xfrm>
            <a:off x="1280160" y="2459736"/>
            <a:ext cx="7223760" cy="365760"/>
          </a:xfrm>
          <a:prstGeom prst="rect">
            <a:avLst/>
          </a:prstGeom>
          <a:noFill/>
          <a:ln/>
        </p:spPr>
        <p:txBody>
          <a:bodyPr wrap="square" lIns="0" tIns="0" rIns="0" bIns="0" rtlCol="0" anchor="ctr"/>
          <a:lstStyle/>
          <a:p>
            <a:pPr indent="0" marL="0">
              <a:buNone/>
            </a:pPr>
            <a:r>
              <a:rPr lang="en-US" sz="1400" dirty="0">
                <a:solidFill>
                  <a:srgbClr val="C9CEDF"/>
                </a:solidFill>
                <a:latin typeface="Calibri" pitchFamily="34" charset="0"/>
                <a:ea typeface="Calibri" pitchFamily="34" charset="-122"/>
                <a:cs typeface="Calibri" pitchFamily="34" charset="-120"/>
              </a:rPr>
              <a:t>Test videos were fingerprinted and never used for training or tuning.</a:t>
            </a:r>
            <a:endParaRPr lang="en-US" sz="1400" dirty="0"/>
          </a:p>
        </p:txBody>
      </p:sp>
      <p:sp>
        <p:nvSpPr>
          <p:cNvPr id="11" name="number circle 2"/>
          <p:cNvSpPr/>
          <p:nvPr/>
        </p:nvSpPr>
        <p:spPr>
          <a:xfrm>
            <a:off x="548640" y="2980944"/>
            <a:ext cx="502920" cy="502920"/>
          </a:xfrm>
          <a:prstGeom prst="ellipse">
            <a:avLst/>
          </a:prstGeom>
          <a:solidFill>
            <a:srgbClr val="5B9BEB"/>
          </a:solidFill>
          <a:ln/>
        </p:spPr>
      </p:sp>
      <p:sp>
        <p:nvSpPr>
          <p:cNvPr id="12" name="number 2"/>
          <p:cNvSpPr txBox="1"/>
          <p:nvPr/>
        </p:nvSpPr>
        <p:spPr>
          <a:xfrm>
            <a:off x="548640" y="2980944"/>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3" name="row title 2"/>
          <p:cNvSpPr txBox="1"/>
          <p:nvPr/>
        </p:nvSpPr>
        <p:spPr>
          <a:xfrm>
            <a:off x="1280160" y="2935224"/>
            <a:ext cx="722376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Failures kept</a:t>
            </a:r>
            <a:endParaRPr lang="en-US" sz="1800" dirty="0"/>
          </a:p>
        </p:txBody>
      </p:sp>
      <p:sp>
        <p:nvSpPr>
          <p:cNvPr id="14" name="row text 2"/>
          <p:cNvSpPr txBox="1"/>
          <p:nvPr/>
        </p:nvSpPr>
        <p:spPr>
          <a:xfrm>
            <a:off x="1280160" y="3264408"/>
            <a:ext cx="7223760" cy="365760"/>
          </a:xfrm>
          <a:prstGeom prst="rect">
            <a:avLst/>
          </a:prstGeom>
          <a:noFill/>
          <a:ln/>
        </p:spPr>
        <p:txBody>
          <a:bodyPr wrap="square" lIns="0" tIns="0" rIns="0" bIns="0" rtlCol="0" anchor="ctr"/>
          <a:lstStyle/>
          <a:p>
            <a:pPr indent="0" marL="0">
              <a:buNone/>
            </a:pPr>
            <a:r>
              <a:rPr lang="en-US" sz="1400" dirty="0">
                <a:solidFill>
                  <a:srgbClr val="C9CEDF"/>
                </a:solidFill>
                <a:latin typeface="Calibri" pitchFamily="34" charset="0"/>
                <a:ea typeface="Calibri" pitchFamily="34" charset="-122"/>
                <a:cs typeface="Calibri" pitchFamily="34" charset="-120"/>
              </a:rPr>
              <a:t>Experiments that missed a bar are reported as failures, not hidden.</a:t>
            </a:r>
            <a:endParaRPr lang="en-US" sz="1400" dirty="0"/>
          </a:p>
        </p:txBody>
      </p:sp>
      <p:sp>
        <p:nvSpPr>
          <p:cNvPr id="15" name="number circle 3"/>
          <p:cNvSpPr/>
          <p:nvPr/>
        </p:nvSpPr>
        <p:spPr>
          <a:xfrm>
            <a:off x="548640" y="3785616"/>
            <a:ext cx="502920" cy="502920"/>
          </a:xfrm>
          <a:prstGeom prst="ellipse">
            <a:avLst/>
          </a:prstGeom>
          <a:solidFill>
            <a:srgbClr val="2FCB93"/>
          </a:solidFill>
          <a:ln/>
        </p:spPr>
      </p:sp>
      <p:sp>
        <p:nvSpPr>
          <p:cNvPr id="16" name="number 3"/>
          <p:cNvSpPr txBox="1"/>
          <p:nvPr/>
        </p:nvSpPr>
        <p:spPr>
          <a:xfrm>
            <a:off x="548640" y="3785616"/>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7" name="row title 3"/>
          <p:cNvSpPr txBox="1"/>
          <p:nvPr/>
        </p:nvSpPr>
        <p:spPr>
          <a:xfrm>
            <a:off x="1280160" y="3739896"/>
            <a:ext cx="7223760" cy="3200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Humans in the loop</a:t>
            </a:r>
            <a:endParaRPr lang="en-US" sz="1800" dirty="0"/>
          </a:p>
        </p:txBody>
      </p:sp>
      <p:sp>
        <p:nvSpPr>
          <p:cNvPr id="18" name="row text 3"/>
          <p:cNvSpPr txBox="1"/>
          <p:nvPr/>
        </p:nvSpPr>
        <p:spPr>
          <a:xfrm>
            <a:off x="1280160" y="4069080"/>
            <a:ext cx="7223760" cy="365760"/>
          </a:xfrm>
          <a:prstGeom prst="rect">
            <a:avLst/>
          </a:prstGeom>
          <a:noFill/>
          <a:ln/>
        </p:spPr>
        <p:txBody>
          <a:bodyPr wrap="square" lIns="0" tIns="0" rIns="0" bIns="0" rtlCol="0" anchor="ctr"/>
          <a:lstStyle/>
          <a:p>
            <a:pPr indent="0" marL="0">
              <a:buNone/>
            </a:pPr>
            <a:r>
              <a:rPr lang="en-US" sz="1400" dirty="0">
                <a:solidFill>
                  <a:srgbClr val="C9CEDF"/>
                </a:solidFill>
                <a:latin typeface="Calibri" pitchFamily="34" charset="0"/>
                <a:ea typeface="Calibri" pitchFamily="34" charset="-122"/>
                <a:cs typeface="Calibri" pitchFamily="34" charset="-120"/>
              </a:rPr>
              <a:t>Labels follow a written guide; I checked random samples by eye.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 small local app: upload a video, get the timeline</a:t>
            </a:r>
            <a:endParaRPr lang="en-US" sz="3200" dirty="0"/>
          </a:p>
        </p:txBody>
      </p:sp>
      <p:sp>
        <p:nvSpPr>
          <p:cNvPr id="3" name="demo bullets"/>
          <p:cNvSpPr txBox="1"/>
          <p:nvPr/>
        </p:nvSpPr>
        <p:spPr>
          <a:xfrm>
            <a:off x="548640" y="1371600"/>
            <a:ext cx="420624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C9CEDF"/>
                </a:solidFill>
                <a:latin typeface="Calibri" pitchFamily="34" charset="0"/>
                <a:ea typeface="Calibri" pitchFamily="34" charset="-122"/>
                <a:cs typeface="Calibri" pitchFamily="34" charset="-120"/>
              </a:rPr>
              <a:t>Runs on your own computer. One command starts it; long videos (up to 4 GB) are fine.</a:t>
            </a:r>
            <a:endParaRPr lang="en-US" sz="1600" dirty="0"/>
          </a:p>
          <a:p>
            <a:pPr marL="342900" indent="-342900">
              <a:spcAft>
                <a:spcPts val="800"/>
              </a:spcAft>
              <a:buSzPct val="100000"/>
              <a:buChar char="•"/>
            </a:pPr>
            <a:r>
              <a:rPr lang="en-US" sz="1600" dirty="0">
                <a:solidFill>
                  <a:srgbClr val="C9CEDF"/>
                </a:solidFill>
                <a:latin typeface="Calibri" pitchFamily="34" charset="0"/>
                <a:ea typeface="Calibri" pitchFamily="34" charset="-122"/>
                <a:cs typeface="Calibri" pitchFamily="34" charset="-120"/>
              </a:rPr>
              <a:t>Shows the exercise timeline and time per exercise.</a:t>
            </a:r>
            <a:endParaRPr lang="en-US" sz="1600" dirty="0"/>
          </a:p>
          <a:p>
            <a:pPr marL="342900" indent="-342900">
              <a:spcAft>
                <a:spcPts val="800"/>
              </a:spcAft>
              <a:buSzPct val="100000"/>
              <a:buChar char="•"/>
            </a:pPr>
            <a:r>
              <a:rPr lang="en-US" sz="1600" dirty="0">
                <a:solidFill>
                  <a:srgbClr val="C9CEDF"/>
                </a:solidFill>
                <a:latin typeface="Calibri" pitchFamily="34" charset="0"/>
                <a:ea typeface="Calibri" pitchFamily="34" charset="-122"/>
                <a:cs typeface="Calibri" pitchFamily="34" charset="-120"/>
              </a:rPr>
              <a:t>Counts reps for 5 exercises and estimates calories with a ±35% range.</a:t>
            </a:r>
            <a:endParaRPr lang="en-US" sz="1600" dirty="0"/>
          </a:p>
          <a:p>
            <a:pPr marL="342900" indent="-342900">
              <a:spcAft>
                <a:spcPts val="800"/>
              </a:spcAft>
              <a:buSzPct val="100000"/>
              <a:buChar char="•"/>
            </a:pPr>
            <a:r>
              <a:rPr lang="en-US" sz="1600" dirty="0">
                <a:solidFill>
                  <a:srgbClr val="C9CEDF"/>
                </a:solidFill>
                <a:latin typeface="Calibri" pitchFamily="34" charset="0"/>
                <a:ea typeface="Calibri" pitchFamily="34" charset="-122"/>
                <a:cs typeface="Calibri" pitchFamily="34" charset="-120"/>
              </a:rPr>
              <a:t>Your video is never uploaded anywhere.</a:t>
            </a:r>
            <a:endParaRPr lang="en-US" sz="1600" dirty="0"/>
          </a:p>
        </p:txBody>
      </p:sp>
      <p:sp>
        <p:nvSpPr>
          <p:cNvPr id="4" name="stat 68%"/>
          <p:cNvSpPr txBox="1"/>
          <p:nvPr/>
        </p:nvSpPr>
        <p:spPr>
          <a:xfrm>
            <a:off x="5212080" y="1371600"/>
            <a:ext cx="3291840" cy="914400"/>
          </a:xfrm>
          <a:prstGeom prst="rect">
            <a:avLst/>
          </a:prstGeom>
          <a:noFill/>
          <a:ln/>
        </p:spPr>
        <p:txBody>
          <a:bodyPr wrap="square" lIns="0" tIns="0" rIns="0" bIns="0" rtlCol="0" anchor="t"/>
          <a:lstStyle/>
          <a:p>
            <a:pPr algn="l" indent="0" marL="0">
              <a:buNone/>
            </a:pPr>
            <a:r>
              <a:rPr lang="en-US" sz="5400" b="1" dirty="0">
                <a:solidFill>
                  <a:srgbClr val="8F84F0"/>
                </a:solidFill>
                <a:latin typeface="Cambria" pitchFamily="34" charset="0"/>
                <a:ea typeface="Cambria" pitchFamily="34" charset="-122"/>
                <a:cs typeface="Cambria" pitchFamily="34" charset="-120"/>
              </a:rPr>
              <a:t>68%</a:t>
            </a:r>
            <a:endParaRPr lang="en-US" sz="5400" dirty="0"/>
          </a:p>
        </p:txBody>
      </p:sp>
      <p:sp>
        <p:nvSpPr>
          <p:cNvPr id="5" name="label 68%"/>
          <p:cNvSpPr txBox="1"/>
          <p:nvPr/>
        </p:nvSpPr>
        <p:spPr>
          <a:xfrm>
            <a:off x="5212080" y="2286000"/>
            <a:ext cx="3291840" cy="822960"/>
          </a:xfrm>
          <a:prstGeom prst="rect">
            <a:avLst/>
          </a:prstGeom>
          <a:noFill/>
          <a:ln/>
        </p:spPr>
        <p:txBody>
          <a:bodyPr wrap="square" lIns="0" tIns="0" rIns="0" bIns="0" rtlCol="0" anchor="t"/>
          <a:lstStyle/>
          <a:p>
            <a:pPr algn="l" indent="0" marL="0">
              <a:buNone/>
            </a:pPr>
            <a:r>
              <a:rPr lang="en-US" sz="1600" dirty="0">
                <a:solidFill>
                  <a:srgbClr val="C9CEDF"/>
                </a:solidFill>
                <a:latin typeface="Calibri" pitchFamily="34" charset="0"/>
                <a:ea typeface="Calibri" pitchFamily="34" charset="-122"/>
                <a:cs typeface="Calibri" pitchFamily="34" charset="-120"/>
              </a:rPr>
              <a:t>of unseen clips counted within one rep of a human (sealed test)</a:t>
            </a:r>
            <a:endParaRPr lang="en-US" sz="1600" dirty="0"/>
          </a:p>
        </p:txBody>
      </p:sp>
      <p:sp>
        <p:nvSpPr>
          <p:cNvPr id="6" name="calorie note"/>
          <p:cNvSpPr txBox="1"/>
          <p:nvPr/>
        </p:nvSpPr>
        <p:spPr>
          <a:xfrm>
            <a:off x="5212080" y="3383280"/>
            <a:ext cx="3291840" cy="822960"/>
          </a:xfrm>
          <a:prstGeom prst="rect">
            <a:avLst/>
          </a:prstGeom>
          <a:noFill/>
          <a:ln/>
        </p:spPr>
        <p:txBody>
          <a:bodyPr wrap="square" lIns="0" tIns="0" rIns="0" bIns="0" rtlCol="0" anchor="ctr"/>
          <a:lstStyle/>
          <a:p>
            <a:pPr indent="0" marL="0">
              <a:buNone/>
            </a:pPr>
            <a:r>
              <a:rPr lang="en-US" sz="1400" dirty="0">
                <a:solidFill>
                  <a:srgbClr val="C9CEDF"/>
                </a:solidFill>
                <a:latin typeface="Calibri" pitchFamily="34" charset="0"/>
                <a:ea typeface="Calibri" pitchFamily="34" charset="-122"/>
                <a:cs typeface="Calibri" pitchFamily="34" charset="-120"/>
              </a:rPr>
              <a:t>Calories use one fixed MET value per exercise and could not be validated.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Limits, and what comes next</a:t>
            </a:r>
            <a:endParaRPr lang="en-US" sz="3200" dirty="0"/>
          </a:p>
        </p:txBody>
      </p:sp>
      <p:sp>
        <p:nvSpPr>
          <p:cNvPr id="3" name="limits"/>
          <p:cNvSpPr txBox="1"/>
          <p:nvPr/>
        </p:nvSpPr>
        <p:spPr>
          <a:xfrm>
            <a:off x="548640" y="1371600"/>
            <a:ext cx="3840480" cy="3017520"/>
          </a:xfrm>
          <a:prstGeom prst="rect">
            <a:avLst/>
          </a:prstGeom>
          <a:noFill/>
          <a:ln/>
        </p:spPr>
        <p:txBody>
          <a:bodyPr wrap="square" lIns="0" tIns="0" rIns="0" bIns="0" rtlCol="0" anchor="t"/>
          <a:lstStyle/>
          <a:p>
            <a:pPr indent="0" marL="0">
              <a:spcAft>
                <a:spcPts val="600"/>
              </a:spcAft>
              <a:buNone/>
            </a:pPr>
            <a:r>
              <a:rPr lang="en-US" sz="2000" b="1" dirty="0">
                <a:solidFill>
                  <a:srgbClr val="FF7A45"/>
                </a:solidFill>
                <a:latin typeface="Cambria" pitchFamily="34" charset="0"/>
                <a:ea typeface="Cambria" pitchFamily="34" charset="-122"/>
                <a:cs typeface="Cambria" pitchFamily="34" charset="-120"/>
              </a:rPr>
              <a:t>Limits</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Tested on only 6 (and 8) unseen workouts.</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About 30% of real exercise time is still missed.</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Dumbbell row and squat got worse in round 2.</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Reps and calories are approximate.</a:t>
            </a:r>
            <a:endParaRPr lang="en-US" sz="1500" dirty="0"/>
          </a:p>
        </p:txBody>
      </p:sp>
      <p:sp>
        <p:nvSpPr>
          <p:cNvPr id="4" name="next"/>
          <p:cNvSpPr txBox="1"/>
          <p:nvPr/>
        </p:nvSpPr>
        <p:spPr>
          <a:xfrm>
            <a:off x="4754880" y="1371600"/>
            <a:ext cx="3840480" cy="3017520"/>
          </a:xfrm>
          <a:prstGeom prst="rect">
            <a:avLst/>
          </a:prstGeom>
          <a:noFill/>
          <a:ln/>
        </p:spPr>
        <p:txBody>
          <a:bodyPr wrap="square" lIns="0" tIns="0" rIns="0" bIns="0" rtlCol="0" anchor="t"/>
          <a:lstStyle/>
          <a:p>
            <a:pPr indent="0" marL="0">
              <a:spcAft>
                <a:spcPts val="600"/>
              </a:spcAft>
              <a:buNone/>
            </a:pPr>
            <a:r>
              <a:rPr lang="en-US" sz="2000" b="1" dirty="0">
                <a:solidFill>
                  <a:srgbClr val="8F84F0"/>
                </a:solidFill>
                <a:latin typeface="Cambria" pitchFamily="34" charset="0"/>
                <a:ea typeface="Cambria" pitchFamily="34" charset="-122"/>
                <a:cs typeface="Cambria" pitchFamily="34" charset="-120"/>
              </a:rPr>
              <a:t>Next</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More workouts from more people for the weak exercises.</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A fresh locked test, since these are now spent.</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Better rep counting and a real calorie check.</a:t>
            </a:r>
            <a:endParaRPr lang="en-US" sz="1500" dirty="0"/>
          </a:p>
          <a:p>
            <a:pPr marL="342900" indent="-342900">
              <a:spcAft>
                <a:spcPts val="600"/>
              </a:spcAft>
              <a:buSzPct val="100000"/>
              <a:buChar char="•"/>
            </a:pPr>
            <a:r>
              <a:rPr lang="en-US" sz="1500" dirty="0">
                <a:solidFill>
                  <a:srgbClr val="C9CEDF"/>
                </a:solidFill>
                <a:latin typeface="Calibri" pitchFamily="34" charset="0"/>
                <a:ea typeface="Calibri" pitchFamily="34" charset="-122"/>
                <a:cs typeface="Calibri" pitchFamily="34" charset="-120"/>
              </a:rPr>
              <a:t>A friendlier app on top.</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Lorie">
  <a:themeElements>
    <a:clrScheme name="cALorie">
      <a:dk1>
        <a:srgbClr val="1B1F2A"/>
      </a:dk1>
      <a:lt1>
        <a:srgbClr val="FFFFFF"/>
      </a:lt1>
      <a:dk2>
        <a:srgbClr val="2E3447"/>
      </a:dk2>
      <a:lt2>
        <a:srgbClr val="F2F3F7"/>
      </a:lt2>
      <a:accent1>
        <a:srgbClr val="EB6834"/>
      </a:accent1>
      <a:accent2>
        <a:srgbClr val="6250D6"/>
      </a:accent2>
      <a:accent3>
        <a:srgbClr val="2A78D6"/>
      </a:accent3>
      <a:accent4>
        <a:srgbClr val="1BAF7A"/>
      </a:accent4>
      <a:accent5>
        <a:srgbClr val="EDA100"/>
      </a:accent5>
      <a:accent6>
        <a:srgbClr val="9C9C97"/>
      </a:accent6>
      <a:hlink>
        <a:srgbClr val="2A78D6"/>
      </a:hlink>
      <a:folHlink>
        <a:srgbClr val="6250D6"/>
      </a:folHlink>
    </a:clrScheme>
    <a:fontScheme name="cALor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cALorie: teaching a computer to name your exercise</dc:title>
  <dc:subject>PptxGenJS Presentation</dc:subject>
  <dc:creator>cALorie project</dc:creator>
  <cp:lastModifiedBy>cALorie project</cp:lastModifiedBy>
  <cp:revision>1</cp:revision>
  <dcterms:created xsi:type="dcterms:W3CDTF">2026-10-30T02:12:05Z</dcterms:created>
  <dcterms:modified xsi:type="dcterms:W3CDTF">2026-10-30T02:12:05Z</dcterms:modified>
</cp:coreProperties>
</file>